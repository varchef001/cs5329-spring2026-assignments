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685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Course Planner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Graph-Based Academic Planning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5029200" cy="36576"/>
          </a:xfrm>
          <a:prstGeom prst="rect">
            <a:avLst/>
          </a:prstGeom>
          <a:solidFill>
            <a:srgbClr val="8BA3C7"/>
          </a:solidFill>
          <a:ln w="12700">
            <a:solidFill>
              <a:srgbClr val="8B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Sorting · Prerequisite Automation · Multi-Program Support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365760"/>
            <a:ext cx="2011680" cy="201168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0" y="2560320"/>
            <a:ext cx="1188720" cy="1188720"/>
          </a:xfrm>
          <a:prstGeom prst="ellipse">
            <a:avLst/>
          </a:prstGeom>
          <a:solidFill>
            <a:srgbClr val="0D4B8E">
              <a:alpha val="50000"/>
            </a:srgbClr>
          </a:solidFill>
          <a:ln w="12700">
            <a:solidFill>
              <a:srgbClr val="0D4B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DDE28-E2A5-7CEE-AB1D-D322151419D5}"/>
              </a:ext>
            </a:extLst>
          </p:cNvPr>
          <p:cNvSpPr txBox="1"/>
          <p:nvPr/>
        </p:nvSpPr>
        <p:spPr>
          <a:xfrm>
            <a:off x="6548511" y="3805311"/>
            <a:ext cx="1892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VarshithGandra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Raja </a:t>
            </a:r>
            <a:r>
              <a:rPr lang="en-US" dirty="0" err="1">
                <a:solidFill>
                  <a:schemeClr val="bg1"/>
                </a:solidFill>
              </a:rPr>
              <a:t>Brahmendra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058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valid course schedule respecting all prerequisite dependencies for a student's chosen program and concentration.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10128" y="10058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course prerequisites as a directed graph. Compare a Baseline Scan (O(n²)) against an Optimized Kahn's Topological Sort (O(V+E)).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36208" y="10058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Scope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CS, Civil, Electrical &amp; Mechanical Engineering programs. CS includes Data Science, Software Engineering, AI &amp; ML, and Robotics.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B8E"/>
          </a:solidFill>
          <a:ln w="12700">
            <a:solidFill>
              <a:srgbClr val="0D4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course planning is difficult when students must decide which courses belong in their plan AND the order in which those courses must be completed — especially when prerequisite chains span multiple foundation courses, concentration-specific requirements, and electives.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Schedule Must: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772400" cy="1100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every selected course exactly once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every prerequisite before the course that depends on 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report cycles (no valid schedule possible if cycles exist)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Core, Required, and Elective course types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Course Schema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294436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course code used by algorithms for dependency 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Human-readable course title shown in planner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program (Computer Science, Civil Engineering, etc.)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Specialization area (AI &amp; ML, Data Science, Software Eng, Robotics)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type: Core, Required, or Elective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prerequisites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prerequisite course IDs that must appear earlier in 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1371600"/>
            <a:ext cx="841248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3898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423160" y="138988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Approaches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776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BBCC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77640" cy="548640"/>
          </a:xfrm>
          <a:prstGeom prst="rect">
            <a:avLst/>
          </a:prstGeom>
          <a:solidFill>
            <a:srgbClr val="E8EFF9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78408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Repeated Linear Scan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scan remaining unscheduled courses, selecting any course whose prerequisites are satisfied.
</a:t>
            </a: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
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Time: O(n²)
• Space: O(n)
</a:t>
            </a: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 and explain.
</a:t>
            </a: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repeated rescanning — less efficient as dataset grows.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0" y="960120"/>
            <a:ext cx="3977640" cy="3840480"/>
          </a:xfrm>
          <a:prstGeom prst="rect">
            <a:avLst/>
          </a:prstGeom>
          <a:solidFill>
            <a:srgbClr val="1E2761"/>
          </a:solidFill>
          <a:ln w="25400">
            <a:solidFill>
              <a:srgbClr val="02C3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92040" y="960120"/>
            <a:ext cx="39776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978408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Optimized: Kahn's Topological Sort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courses as a directed graph. Track in-degrees and process zero in-degree courses first.
</a:t>
            </a: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
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Time: O(V + E)
• Space: O(V + E)
</a:t>
            </a: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fit for prerequisite structures. Scales efficiently.
</a:t>
            </a: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stronger engineering choice.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B8E"/>
          </a:solidFill>
          <a:ln w="12700">
            <a:solidFill>
              <a:srgbClr val="0D4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65960" cy="1600200"/>
          </a:xfrm>
          <a:prstGeom prst="rect">
            <a:avLst/>
          </a:prstGeom>
          <a:solidFill>
            <a:srgbClr val="0D4B8E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1155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Catalog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600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master JSON course catalog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65960" cy="1600200"/>
          </a:xfrm>
          <a:prstGeom prst="rect">
            <a:avLst/>
          </a:prstGeom>
          <a:solidFill>
            <a:srgbClr val="0D4B8E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42032" y="109728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42032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44952" y="11155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Program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1600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selects their academic program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1005840"/>
            <a:ext cx="1965960" cy="1600200"/>
          </a:xfrm>
          <a:prstGeom prst="rect">
            <a:avLst/>
          </a:prstGeom>
          <a:solidFill>
            <a:srgbClr val="0D4B8E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18304" y="109728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18304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21224" y="11155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Concentration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36592" y="1600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selects their specialization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3136" y="1005840"/>
            <a:ext cx="1965960" cy="1600200"/>
          </a:xfrm>
          <a:prstGeom prst="rect">
            <a:avLst/>
          </a:prstGeom>
          <a:solidFill>
            <a:srgbClr val="0D4B8E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94576" y="109728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94576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97496" y="11155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Courses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12864" y="1600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Core, Required &amp; Elective courses shown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880360"/>
            <a:ext cx="1965960" cy="1600200"/>
          </a:xfrm>
          <a:prstGeom prst="rect">
            <a:avLst/>
          </a:prstGeom>
          <a:solidFill>
            <a:srgbClr val="0D4B8E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297180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29900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Electives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" y="3474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picks desired elective courses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50592" y="2880360"/>
            <a:ext cx="1965960" cy="1600200"/>
          </a:xfrm>
          <a:prstGeom prst="rect">
            <a:avLst/>
          </a:prstGeom>
          <a:solidFill>
            <a:srgbClr val="0D4B8E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42032" y="297180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42032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044952" y="29900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Auto-Prerequisites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560320" y="3474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adds all missing prerequisites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26864" y="2880360"/>
            <a:ext cx="1965960" cy="1600200"/>
          </a:xfrm>
          <a:prstGeom prst="rect">
            <a:avLst/>
          </a:prstGeom>
          <a:solidFill>
            <a:srgbClr val="0D4B8E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18304" y="297180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18304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21224" y="29900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Algorithm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36592" y="3474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scheduling algorithm executes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03136" y="2880360"/>
            <a:ext cx="1965960" cy="1600200"/>
          </a:xfrm>
          <a:prstGeom prst="rect">
            <a:avLst/>
          </a:prstGeom>
          <a:solidFill>
            <a:srgbClr val="0D4B8E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894576" y="297180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894576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97496" y="29900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Schedule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12864" y="3474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verified for correctness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Validation Checks: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2062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All Courses Present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selected course appears in the final schedule with no omissions.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42062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No Duplicates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course appears more than once in the generated schedule.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154680"/>
            <a:ext cx="42062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Prerequisites Before Dependents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703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prerequisite appears earlier in the order than the course that depends on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154680"/>
            <a:ext cx="42062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0A5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Cycle 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703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prerequisite structure contains a cycle, the system reports that no valid schedule exists rather than producing an incorrect output.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B8E"/>
          </a:solidFill>
          <a:ln w="12700">
            <a:solidFill>
              <a:srgbClr val="0D4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234440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6276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Tested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914400"/>
            <a:ext cx="1920240" cy="1234440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9601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23160" y="16276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1920240" cy="1234440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9601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1.22x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0" y="16276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Speedup (AI&amp;ML)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914400"/>
            <a:ext cx="1920240" cy="1234440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20840" y="9601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20840" y="16276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Savings (500-course)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31720"/>
          <a:ext cx="9235440" cy="22860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B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Courses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B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Time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B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 Time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B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Mem (KB)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B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 Mem (KB)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B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B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AI &amp; ML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1.22x 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Data Science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1.00x 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0.000411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0.000432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0.95x 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0.001745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1.09x 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D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91440" cy="1783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06984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Datasets (18–17 courses)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differences were minimal. The optimized method used noticeably less memory even at small sizes, proving its structural efficiency.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91440" cy="1783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0328" y="106984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100-Course Dataset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150876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was slightly slower — explained by constant-factor overhead from graph construction and queue operations, not a flaw in the algorithm.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91440" cy="1783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303580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500-Course Dataset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347472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became faster and used ~33% less memory (101.77 KB vs 151.70 KB), confirming better scalability with problem size.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91440" cy="1783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0328" y="303580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Algorithms: 100% Valid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0328" y="347472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datasets produced correctly validated schedules with no errors, regardless of which algorithm was used.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B8E"/>
          </a:solidFill>
          <a:ln w="12700">
            <a:solidFill>
              <a:srgbClr val="0D4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algorithms provide a natural, scalable solution to academic course scheduling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produce 100% correct schedules — the optimized method excels at scale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supports real-world complexity: multiple programs, concentrations, electives, and auto-prerequisites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Kahn's Topological Sort is the recommended engineering choice for prerequisite scheduling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detection ensures the system never produces an invalid output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931920"/>
            <a:ext cx="85953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Semester-by-Semester Planning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schedule into semesters rather than a flat ordered list.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30880" y="100584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68040" y="11430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680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62400" y="1170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Credit-Hour Limits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8040" y="175564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per-semester credit limits to model realistic student workloads.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7440" y="100584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24600" y="11430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246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18960" y="1170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Availability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600" y="175564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courses only offered in Fall or Spring — integrate availability constraints.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91640" y="301752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28800" y="31546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288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23160" y="31821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Graduation-Time Optimization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37673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minimum-semester path to degree completion.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01752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31546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31821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37673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or desktop GUI for interactive course selection and visualization.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Course Planner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Academic Planning · Topological Sorting · Scalable &amp; Validated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909</Words>
  <Application>Microsoft Office PowerPoint</Application>
  <PresentationFormat>On-screen Show (16:9)</PresentationFormat>
  <Paragraphs>169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Course Planner</dc:title>
  <dc:subject>PptxGenJS Presentation</dc:subject>
  <dc:creator>PptxGenJS</dc:creator>
  <cp:lastModifiedBy>varshith gandra</cp:lastModifiedBy>
  <cp:revision>3</cp:revision>
  <dcterms:created xsi:type="dcterms:W3CDTF">2026-03-31T22:09:02Z</dcterms:created>
  <dcterms:modified xsi:type="dcterms:W3CDTF">2026-04-01T00:25:16Z</dcterms:modified>
</cp:coreProperties>
</file>